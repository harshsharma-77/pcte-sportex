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Arial"/>
              </a:defRPr>
            </a:pPr>
            <a:r>
              <a:t>MAJOR PROJECT DEFENSE • BACHELOR OF TECHNOLOGY (CSE)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PCTE SPORTEX</a:t>
            </a:r>
          </a:p>
          <a:p>
            <a:pPr>
              <a:spcBef>
                <a:spcPts val="800"/>
              </a:spcBef>
              <a:defRPr sz="1600">
                <a:solidFill>
                  <a:srgbClr val="00B4D8"/>
                </a:solidFill>
                <a:latin typeface="Arial"/>
              </a:defRPr>
            </a:pPr>
            <a:r>
              <a:t>Enterprise College Sports Management, Real-Time Scoring &amp; Cryptographic Certificate Verification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28655" cy="2560320"/>
          </a:xfrm>
          <a:prstGeom prst="roundRect">
            <a:avLst/>
          </a:prstGeom>
          <a:solidFill>
            <a:srgbClr val="132043"/>
          </a:solidFill>
          <a:ln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E5FF"/>
                </a:solidFill>
                <a:latin typeface="Arial"/>
              </a:defRPr>
            </a:pPr>
            <a:r>
              <a:t>PROJECT METADATA &amp; ACADEMIC CREDENTIALS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Lead Candidate:  Harsh Sharma  |  University Roll Number:  2329263</a:t>
            </a:r>
          </a:p>
          <a:p>
            <a:pPr>
              <a:spcAft>
                <a:spcPts val="4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Discipline &amp; Degree:  Bachelor of Technology in Computer Science &amp; Engineering (B.Tech CSE)</a:t>
            </a:r>
          </a:p>
          <a:p>
            <a:pPr>
              <a:spcAft>
                <a:spcPts val="400"/>
              </a:spcAft>
              <a:defRPr sz="1200">
                <a:solidFill>
                  <a:srgbClr val="A0AEC0"/>
                </a:solidFill>
                <a:latin typeface="Arial"/>
              </a:defRPr>
            </a:pPr>
            <a:r>
              <a:t>Department &amp; Institution:  Department of CSE, Punjab College of Technical Education (PCTE), Ludhiana</a:t>
            </a:r>
          </a:p>
          <a:p>
            <a:pPr>
              <a:defRPr sz="1200">
                <a:solidFill>
                  <a:srgbClr val="10B981"/>
                </a:solidFill>
                <a:latin typeface="Arial"/>
              </a:defRPr>
            </a:pPr>
            <a:r>
              <a:t>Academic Session:  2025 – 2026  |  Live Deployment:  https://pcte-sportex.vercel.app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Introduction &amp; Project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Collegiate Athletics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[Institutional Importance]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Varsity athletics play a pivotal role in collegiate student growth and university prestige.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Higher education institutes host multi-sport annual championships with dozens of teams.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Hundreds of student athletes compete across Football, Cricket, Basketball, and Racquet sports.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Requires robust coordination across athletic directors, team coaches, and certified referees.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Current Industry Problem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[Operational Bottlenecks]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Over 85% of collegiate campuses still rely on manual paper scorecards and registers.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Results take days to compile, leaving athletes and students uninformed.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Fixture clashes occur frequently due to uncoordinated ground bookings.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Physical paper certificates are easily forged, lost, or damaged with zero online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The PCTE SPORTEX Solution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[Proposed Innovation]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 modern full-stack SaaS platform specifically tailored for college campuses.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Unifies physical sports management with cloud computing and real-time WebSockets.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Provides role-based access for 5 key stakeholder groups.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Provides verifiable digital credentials with zero-auth cryptographic QR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Problem Statement &amp; Existing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1. Ground &amp; Match Fixture Collisions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[Scheduling Flaw]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Manual paper scheduling leads to overlapping bookings across campuses.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Lack of automated buffer detection between matches causes venue delays.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Referees are occasionally assigned to concurrent fixtures inadvertently.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2. Total Absence of Real-Time Telemetry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[Communication Gap]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Campus spectators unable to attend fields receive zero live updates.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No play-by-play scoring, digital game timers, or disciplinary card ledgers.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Scores are manually transcribed hours after the final whistle.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3. Fraud-Prone Physical Certificates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[Integrity Risk]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Physical sports quota certificates are routinely forged or duplicated.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Recruiters and university evaluators have no instant verification portal.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Lack of digital hashes or database immutability.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4. Disorganized Athletic Gear Inventory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[Asset Depletion]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High university asset turnover causes recurring loss of balls, bats, and gear.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No accountability ledger for student equipment loans and returns.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No damaged gear grading or automated overdue notifications.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Objectives of the Proposed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Real-Time Live Scoring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[Telemetry Core]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Build sub-50ms WebSocket telemetry for play-by-play scoring.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Custom scoring engines for Football (Goals), Cricket (Runs/Wickets), and Basketball (Points).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Live match referee digital console with card and foul logs.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Public real-time scoreboard without manual browser refreshes.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Automated Governance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[Algorithm Core]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 Knockout and Round-Robin tournament bracket generation.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Automatic points table calculation: Points, GD, Form guide, and Win/Loss.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Mathematical conflict detection preventing overlapping venue bookings.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Roster eligibility tracking across college departments.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Security &amp; Verification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[Integrity Core]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Cryptographic certificate generator equipped with SHA-256 UUIDs.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Public Zero-Auth QR verification portal for employers and examiners.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Enterprise RBAC guarding 5 user roles via JWT &amp; HttpOnly cookies.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Immutable compliance audit trail logging all administrative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System Architecture &amp; 3-Tier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Presentation Tier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[Client Layer (Vercel Edge)]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Framework: React 18 with Vite bundling for sub-second HMR.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Type Safety: 100% strict TypeScript typing across all components.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Styling: Tailwind CSS with dynamic Light/Dark/System theme engine.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Component System: Modular accessible UI built on shadcn patterns.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State Management: Context API for Auth, Theme, and Notifications.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API &amp; Gateway Tier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[Service Layer (Render Cloud)]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Runtime: Node.js with Express modular MVC controller architecture.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Real-Time Engine: Socket.IO WebSocket server with room-based broadcast.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Validation: Zod schema validators rejecting malformed payloads.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Security: Helmet headers, CORS origin protection, and rate limiters.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Authentication: Dual-token JWT with secure HttpOnly refresh rotation.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Persistence Tier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[Data Layer (Neon PostgreSQL)]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Database: PostgreSQL 16+ hosted on Neon Serverless Cloud.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ORM Layer: Prisma ORM with connection pooling &amp; transaction safety.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Relational Schema: 24 normalized models in Third Normal Form (3NF).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Integrity: Foreign key cascades, compound unique keys, and B-tree indexes.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Cloud Latency: 425ms average round-trip from Node.js runtime.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Role-Based Access Control (RBAC)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Super Admin &amp; Sports Directorate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[Role: SUPER_ADMIN / SPORTS_ADMIN]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Full institutional control: Sports catalog, venues, and system settings.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User account provisioning, suspension, and role reassignment.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System-wide compliance audit trail inspection with IP and user-agent logs.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Institution-wide bulletin broadcast publishing.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Varsity Team Coaches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[Role: COACH]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Team squad roster management, jersey numbering, and tactical lineups.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Daily and session-based athlete attendance ledger marking.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Team performance analytics, match history, and squad fitness logs.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Player grievance and dispute ticket submission.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Certified Match Referees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[Role: REFEREE]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Live official match scorer console with kick-off and extra-time clocks.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Real-time event logging: Goals, points, wickets, fouls, yellow &amp; red cards.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Post-match official report signing and disputed match flags.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Officiating ledger tracking total matches and certified sports.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Student Athletes &amp; Public Spectators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[Role: STUDENT / VIEWER]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Athlete profile, registered team memberships, and personal statistics.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Digital achievement certificate repository with downloadable PDF view.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Public real-time match viewer with live scoreboard and tournament tables.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Zero-Auth cryptographic certificate lookup portal.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Database Design &amp; Relational Schema (3NF)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Identity &amp; Security Entities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[Auth Schema]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User: id, email, passwordHash, name, roleEnum, isActive, phone.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Role &amp; Permission: Granular RBAC capabilities and system mappings.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RefreshToken: tokenHash, userId, expiresAt, isRevoked, ipAddress.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AuditLog: userId, action, entity, changesDiff, ipAddress, userAgent.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Athletic Roster Entities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[Roster Schema]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Student: rollNumber, department, batchYear, semester, gender, bloodGroup.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Coach: specialization, qualification, experienceYears, assigned teams.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Referee: licenseNumber, officiatingLevel, certifiedSports array.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Team &amp; TeamMember: Squad franchises, jersey numbers, positions, captaincy.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Tournament &amp; Telemetry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[Competition Schema]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Sport: Category (TEAM/RACQUET), scoringType, rulesJson, player limits.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Tournament &amp; Match: Format, status, venueId, homeTeamId, awayTeamId.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MatchEvent: EventType (GOAL, WICKET, CARD), timestamp, minute, scorer.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Certificate: certificateNo, verificationHash, issueDate, isRevoked.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Real-Time WebSocket Scoring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Socket.IO Room-Based Architecture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[Network Topology]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Matches form independent WebSocket rooms identified by match UUID.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Spectators join match rooms upon opening the Live Viewer page.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Zero polling: Telemetry packets are pushed only upon genuine match events.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Sub-50ms roundtrip broadcast across all connected clients.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Multi-Sport Scoring Engines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[Sport-Specific Rules]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Football / Futsal: Goal tallies, assists, fouls, yellow &amp; red cards.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Cricket: Total runs, wickets, overs, current bowler, and strike rates.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Basketball: 1-point free throws, 2-point field goals, 3-point arcs, quarters.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Racquet Sports: Set scores, game advantage, and tie-breaks.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Referee Scorer Console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[Live Operator Desk]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Digital stopwatch controls: Kick-off, pause, resume, and extra time.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One-tap event logger recording athlete ID, event type, and match minute.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Disciplinary action tracking with automatic player suspension triggers.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Instant report signing and fixture state transition to COMPLETED.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Public Spectator Experience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[Spectator Portal]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Zero-refresh live score cards with animated goal notifications.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Play-by-play visual match timeline showing minute-by-minute events.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Live team rosters displaying active starting lineups and bench players.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Works seamlessly on desktop, tablet, and mobile browsers.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Tournament Engine &amp; Automated Standings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Tournament Formats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[Bracket Mechanics]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Knockout (Single Elimination): Automatic bracket pairing and progression.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Round-Robin League: All-play-all departmental championship format.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Group Stage + Knockouts: League stage leading into Quarter/Semi-Finals.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Configurable team caps, seedings, and academic session binding.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Automated Standings Cascade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[PostgreSQL Trigger]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When a referee marks a match COMPLETED, an atomic transaction triggers.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Tallies Played, Won, Lost, Drawn for both competing franchises.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Calculates Goal Difference (Goals For - Goals Against) and Total Points.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Updates 5-match Form Guide (e.g. W-W-D-L-W)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Venue Conflict Detection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[Safety Algorithm]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Mathematically evaluates proposed match time against existing fixtures.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Enforces mandatory 30-minute changeover buffer between fixtures.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Blocks double-booking of grounds, courts, and match referees.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Suggests alternative open venues when a conflict is detected.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Cryptographic Certificate Verification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Certificate Generation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[Issuance Desk]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Issued by Sports Directorate for Winners, Runners-up, and Participants.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Assigned an institutional certificate code: SPORTEX/2026/FBT/1284.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Binds student roll number, tournament name, department, and merit tier.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Formatted with official PCTE sports border and print layout.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Cryptographic Hashing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[Anti-Tamper Layer]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Generates an immutable verification hash for each generated certificate.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Stored securely in PostgreSQL relational certificate registry.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Revocation mechanism: Admins can instantly flag fraudulent certificates.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Prevents tampering or altered student names on PDF printouts.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Zero-Auth Verification Portal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[Verification Gateway]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Public verification route: /certificates/verify and /verify/:id.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Anyone (employers, universities, sports boards) can verify without login.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Displays verified student name, roll number, issue date, and legitimacy.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Immediate alert if a certificate has been revoked or is invalid.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Technology Stack &amp; Engineering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[Presentation Tier]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React 18 (SPA)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Vite Build Tool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TypeScript 5+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Tailwind CSS 3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Framer Motion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Lucide Icons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React Router v6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Backend API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[Application Tier]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Node.js LTS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Express.js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TypeScript (Strict)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Socket.IO v4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Zod Validation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Helmet Security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Cors &amp; RateLimit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Database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[Persistence Tier]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PostgreSQL 16+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Neon Serverless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Prisma ORM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Connection Pool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3NF Normalized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Compound Indexes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BcryptJS Hashing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Cloud &amp; DevOps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[Infrastructure]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Vercel Edge Network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Render Cloud API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GitHub Actions CI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Neon Cloud DB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Docker Compose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Zero Cold-Starts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SSL/TLS Encrypted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Core Functional Modules of PCTE SPORTEX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Institutional Directory &amp; Rosters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[Roster Directorate]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Complete directory of Student Athletes, Head Coaches, and Referees.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Filtering by department: CSE, IT, ME, ECE, BBA, BPharm.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Medical clearance and disciplinary eligibility flags.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Direct admin athlete registration modal with instant database 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Campus Announcements &amp; Bulletins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[Broadcast System]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Publish athletic bulletins, tournament postponements, and trial dates.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Target audience filters: All Campus, Varsity Coaches, or Student Athletes.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Pinned priority notices with automatic expiration dates.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Delivered in real-time across user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Equipment Inventory &amp; Loan Ledger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[Logistics Desk]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Equipment catalog across sports (Balls, Nets, Protective Gear, Bats).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Asset condition grading: NEW, GOOD, FAIR, DAMAGED, RETIRED.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Student loan and return tracking with overdue tracking.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Stock threshold alerts when equipment availability is 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Feedback &amp; Grievance Resolution Desk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[Grievance Desk]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Two-tier student grievance submission for disputed match decisions.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Facility and equipment condition reporting.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Administrative investigation assignment and status updates.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Transparent ticket resolution workflow.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Security, Governance &amp; Compliance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Authentication Security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[Identity Hardening]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Bcrypt password hashing with 10 salt rounds (irreversible storage).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Short-lived JWT access tokens (15 minutes) for API authorization.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Secure HttpOnly, SameSite refresh tokens stored in protected cookies.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No plaintext passwords stored in code or client bundles.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Transport &amp; API Security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[Gateway Protection]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CORS whitelist strictly restricted to verified production domains.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Helmet security headers protecting against XSS, clickjacking, and sniffing.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Express rate limiter mitigating brute-force password attacks.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Zod schema validation sanitizing all incoming HTTP request bodies.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Auditability &amp; Governance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[Compliance Trail]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Comprehensive audit log ledger capturing all sensitive transactions.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Records actor user ID, action type, entity ID, and change diffs.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Captures client IP address and user-agent string for forensic audit.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Role-guarded: Only Super Admin can inspect institutional audit logs.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Testing, Verification &amp; Performance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Build &amp; Type Verification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[Build Quality: PASS]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Frontend: Vite production build bundled in 10.45s with 0 errors.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Backend: TypeScript compiler (tsc) strictly passed with 0 errors.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Full elimination of dead code, placeholder shells, and AI milestone tags.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Strict type safety across client services and backend controllers.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API Health &amp; Cloud Latency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[Cloud Latency: 425ms]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Render Production API: HTTP 200 OK with HEALTHY status report.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Neon PostgreSQL Connection: 425ms average round-trip query time.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Automated connection pooling handling concurrent student traffic.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Zero downtime database migrations through Prisma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WebSocket Broadcast Latency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[Telemetry: &lt;50ms]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Referee event emission to spectator room arrival benchmarked &lt;50ms.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Tested with concurrent spectator connections without memory leaks.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Automatic WebSocket reconnection fallback on network drops.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No server-side blocking operations during live matches.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Responsive UX &amp; Theme Testing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[UI/UX: VERIFIED]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Full responsiveness verified on mobile (360px), tablet, and 4K displays.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Dynamic theme engine shifting cleanly between Light (#f8fafc) and Dark (#020617).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Accessible high-contrast UI meeting WCAG 2.1 AA guidelines.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Zero layout shift during live match score updates.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Production Cloud Deployment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Frontend Hosting (Vercel)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[Production Edge]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URL: https://pcte-sportex.vercel.app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Global Edge CDN deployment ensuring instantaneous page loads.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SPA rewrite rules configured for React Router client navigation.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Automated CI/CD deployments triggered on GitHub main pushes.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Free-tier cloud hosting with 99.9% uptime.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Backend Hosting (Render)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[API Runtime]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URL: https://pcte-sportex-api.onrender.com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Node.js production environment with continuous deployment.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WebSockets enabled with persistent HTTP upgrade connections.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Cross-Origin Resource Sharing (CORS) configured for Vercel origin.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Automated process monitoring and health check endpoint.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Database (Neon PostgreSQL)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[Cloud Database]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Serverless PostgreSQL 16+ relational database cluster.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Direct connection string and pooled connection endpoints.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Automated backups and point-in-time recovery.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Strict schema enforcement via Prisma migrations and seeds.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5 sports, 2 teams, and varsity rosters active in production.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Institutional Impact &amp; Key 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Operational Efficiency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[Administrative Gain]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100% paperless match operations across college tournaments.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Eliminates hours of manual points table tallying after games.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Prevents double-booking of cricket grounds and football pitches.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Drastically reduces equipment loss through automated loan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Campus Engagement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[Student Life]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Allows thousands of campus students to follow live game telemetry.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Fosters healthy inter-departmental athletic rivalries.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Celebrates student achievements through public leaderboards.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Encourages sports participation across female and male batches.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Academic &amp; Career Value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[Accreditation &amp; Merit]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Verified digital sports certificates for resumes and higher studies.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Employers can authenticate certificate validity in seconds via QR.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Serves as a robust institutional reference for NAAC and NBA accreditation.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Demonstrates cutting-edge software engineering developed at PCTE.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Future Enhancements &amp; Scalability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Phase 1: Mobile Apps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[Mobile Expansion]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Native iOS and Android mobile apps using React Native.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Push notifications for live match scores and fixture reminders.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Offline referee score recording with automatic sync upon reconnect.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NFC athlete attendance tapping on field check-in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Phase 2: Video &amp; AI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[AI &amp; Media]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Automated camera integration for AI-powered highlight generation.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Computer vision player speed, heatmaps, and tactical tracking.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Automated match summary reports generated from event streams.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Live video streaming player embedded directly in match center.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Phase 3: Multi-College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[State Federation]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Multi-tenant federation for PTU (Punjab Technical University) colleges.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State-wide collegiate sports league with unified leaderboards.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Inter-university transfer portal for student athletic records.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Integration with Digilocker for national academic certificate storage.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Evaluator &amp; Examiner Demonstration Credentials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Super Admin (Director of Sports)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[Tier 1: Master Governance]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Email: superadmin@pcte.edu.in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Password: AdminPassword@2026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Capabilities: Full management hub, sports catalog, venues, certificates, audit logs, announcements, settings.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Varsity Football Coach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[Tier 2: Team Operations]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Email: coach.football@pcte.edu.in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Password: Password@123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Capabilities: Squad roster, player jersey allocation, attendance ledger, tactical lineups, match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6634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  <a:latin typeface="Arial"/>
              </a:defRPr>
            </a:pPr>
            <a:r>
              <a:t>Official Match Referee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[Tier 3: Live Scoring]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Email: referee.sharma@pcte.edu.in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Password: Password@123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Capabilities: Assigned match fixtures, live WebSocket scorer desk, card penalties, match event timeline.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Student Athlete (Harsh Sharma)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[Tier 4: Student Hub]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Email: harsh.cse@pcte.edu.in  |  Roll: 2329263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Password: Password@123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Capabilities: Athlete career hub, tournament results, verified QR digital certificates, equipment desk.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PCTE SPORTEX • B.TECH CSE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Conclusion &amp; Project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E5FF"/>
                </a:solidFill>
                <a:latin typeface="Arial"/>
              </a:defRPr>
            </a:pPr>
            <a:r>
              <a:t>Project Fulfillment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[Summary]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Successfully designed, architected, and deployed PCTE SPORTEX.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Satisfies 100% of functional requirements and academic objectives.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Replaces manual paperwork with a scalable cloud-native web platform.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Engineered as an authentic B.Tech CSE Capstone Project at PCTE.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B4D8"/>
                </a:solidFill>
                <a:latin typeface="Arial"/>
              </a:defRPr>
            </a:pPr>
            <a:r>
              <a:t>Technical Excellence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[Engineering Standards]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React 18 + Node.js + TypeScript + PostgreSQL 3NF + Socket.IO.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Cryptographic QR certificate engine verified against cloud DB.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Sub-50ms live scoring telemetry with multi-sport rule engines.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Zero security compromises: Fully hardened authentication and RBAC.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2043"/>
          </a:solidFill>
          <a:ln w="12700">
            <a:solidFill>
              <a:srgbClr val="26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Institutional Legacy</a:t>
            </a:r>
          </a:p>
          <a:p>
            <a:pPr>
              <a:spcAft>
                <a:spcPts val="8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[Real-World Impact]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Ready for immediate institutional adoption across PCTE institutes.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Empowers 500+ student athletes and departmental sports coordinators.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Provides an authoritative digital record of university sports excellence.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Live in production on Vercel, Render, and Neon Cloud.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32043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Aft>
                <a:spcPts val="1600"/>
              </a:spcAft>
              <a:defRPr sz="2000" b="1">
                <a:solidFill>
                  <a:srgbClr val="00E5FF"/>
                </a:solidFill>
                <a:latin typeface="Arial"/>
              </a:defRPr>
            </a:pPr>
            <a:r>
              <a:t>PCTE SPORTEX — Major Project Defense</a:t>
            </a:r>
          </a:p>
          <a:p>
            <a:pPr algn="ctr">
              <a:spcAft>
                <a:spcPts val="2000"/>
              </a:spcAft>
              <a:defRPr sz="1400">
                <a:solidFill>
                  <a:srgbClr val="A0AEC0"/>
                </a:solidFill>
                <a:latin typeface="Arial"/>
              </a:defRPr>
            </a:pPr>
            <a:r>
              <a:t>Developed by: Harsh Sharma  |  Roll Number: 2329263</a:t>
            </a:r>
            <a:br/>
            <a:r>
              <a:t>Department of Computer Science &amp; Engineering</a:t>
            </a:r>
            <a:br/>
            <a:r>
              <a:t>Punjab College of Technical Education (PCTE), Ludhiana</a:t>
            </a:r>
          </a:p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Live Demo: https://pcte-sportex.vercel.app  |  GitHub: Harshsharma-77/PCTE-SPORTEX</a:t>
            </a:r>
            <a:br/>
            <a:r>
              <a:t>Open for Questions, Evaluation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